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E7CC43-9215-4CFE-9AAF-BCEA2FBAF47E}" v="4" dt="2026-10-03T05:23:16.2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43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MODH BIRADAR" userId="5b0f890e4bb0b5df" providerId="LiveId" clId="{4F14239B-AB93-4195-81B1-604155FE0E64}"/>
    <pc:docChg chg="custSel delSld modSld">
      <pc:chgData name="PRAMODH BIRADAR" userId="5b0f890e4bb0b5df" providerId="LiveId" clId="{4F14239B-AB93-4195-81B1-604155FE0E64}" dt="2026-10-03T07:54:30.799" v="153" actId="20577"/>
      <pc:docMkLst>
        <pc:docMk/>
      </pc:docMkLst>
      <pc:sldChg chg="modSp mod">
        <pc:chgData name="PRAMODH BIRADAR" userId="5b0f890e4bb0b5df" providerId="LiveId" clId="{4F14239B-AB93-4195-81B1-604155FE0E64}" dt="2026-10-03T07:54:30.799" v="153" actId="20577"/>
        <pc:sldMkLst>
          <pc:docMk/>
          <pc:sldMk cId="0" sldId="256"/>
        </pc:sldMkLst>
        <pc:spChg chg="mod">
          <ac:chgData name="PRAMODH BIRADAR" userId="5b0f890e4bb0b5df" providerId="LiveId" clId="{4F14239B-AB93-4195-81B1-604155FE0E64}" dt="2026-10-03T07:54:30.799" v="153" actId="20577"/>
          <ac:spMkLst>
            <pc:docMk/>
            <pc:sldMk cId="0" sldId="256"/>
            <ac:spMk id="6" creationId="{00000000-0000-0000-0000-000000000000}"/>
          </ac:spMkLst>
        </pc:spChg>
      </pc:sldChg>
      <pc:sldChg chg="del">
        <pc:chgData name="PRAMODH BIRADAR" userId="5b0f890e4bb0b5df" providerId="LiveId" clId="{4F14239B-AB93-4195-81B1-604155FE0E64}" dt="2026-10-03T05:20:22.979" v="0" actId="47"/>
        <pc:sldMkLst>
          <pc:docMk/>
          <pc:sldMk cId="0" sldId="26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C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Searching &amp; Sorting Visualizer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2DEEE"/>
                </a:solidFill>
              </a:defRPr>
            </a:pPr>
            <a:r>
              <a:t>An interactive way to understand core data-structure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5943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Make algorithms</a:t>
            </a:r>
            <a:br/>
            <a:r>
              <a:t>visible.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657600"/>
            <a:ext cx="5394960" cy="2067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DCE6F5"/>
                </a:solidFill>
              </a:defRPr>
            </a:pPr>
            <a:r>
              <a:rPr lang="en-IN" dirty="0"/>
              <a:t>Presented by:</a:t>
            </a:r>
          </a:p>
          <a:p>
            <a:pPr>
              <a:spcAft>
                <a:spcPts val="1300"/>
              </a:spcAft>
              <a:defRPr sz="1700">
                <a:solidFill>
                  <a:srgbClr val="DCE6F5"/>
                </a:solidFill>
              </a:defRPr>
            </a:pPr>
            <a:r>
              <a:rPr lang="en-IN" dirty="0"/>
              <a:t>Thakur Shashank </a:t>
            </a:r>
            <a:r>
              <a:rPr lang="en-IN" dirty="0" err="1"/>
              <a:t>singh</a:t>
            </a:r>
            <a:r>
              <a:rPr lang="en-IN" dirty="0"/>
              <a:t>  -[25MVCSMR0443]</a:t>
            </a:r>
          </a:p>
          <a:p>
            <a:pPr>
              <a:spcAft>
                <a:spcPts val="1300"/>
              </a:spcAft>
              <a:defRPr sz="1700">
                <a:solidFill>
                  <a:srgbClr val="DCE6F5"/>
                </a:solidFill>
              </a:defRPr>
            </a:pPr>
            <a:r>
              <a:rPr lang="en-IN" dirty="0"/>
              <a:t>Pramodh </a:t>
            </a:r>
            <a:r>
              <a:rPr lang="en-IN" dirty="0" err="1"/>
              <a:t>biradar</a:t>
            </a:r>
            <a:r>
              <a:rPr lang="en-IN" dirty="0"/>
              <a:t> </a:t>
            </a:r>
            <a:r>
              <a:rPr lang="en-IN"/>
              <a:t>–[25MVCSMR0431]</a:t>
            </a:r>
            <a:endParaRPr lang="en-IN" dirty="0"/>
          </a:p>
          <a:p>
            <a:pPr>
              <a:spcAft>
                <a:spcPts val="1300"/>
              </a:spcAft>
              <a:defRPr sz="1700">
                <a:solidFill>
                  <a:srgbClr val="DCE6F5"/>
                </a:solidFill>
              </a:defRPr>
            </a:pPr>
            <a:r>
              <a:rPr lang="en-IN" dirty="0" err="1"/>
              <a:t>M.Manish</a:t>
            </a:r>
            <a:r>
              <a:rPr lang="en-IN" dirty="0"/>
              <a:t> –[25MVCSMR0415]</a:t>
            </a:r>
          </a:p>
          <a:p>
            <a:pPr>
              <a:spcAft>
                <a:spcPts val="1300"/>
              </a:spcAft>
              <a:defRPr sz="1700">
                <a:solidFill>
                  <a:srgbClr val="DCE6F5"/>
                </a:solidFill>
              </a:defRPr>
            </a:pPr>
            <a:r>
              <a:rPr lang="en-IN" dirty="0"/>
              <a:t>Sai Charan </a:t>
            </a:r>
            <a:r>
              <a:rPr lang="en-IN" dirty="0" err="1"/>
              <a:t>reddy</a:t>
            </a:r>
            <a:r>
              <a:rPr lang="en-IN" dirty="0"/>
              <a:t> –[25MVCSMR0374]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6858000" y="2920468"/>
            <a:ext cx="609447" cy="1742971"/>
          </a:xfrm>
          <a:prstGeom prst="rect">
            <a:avLst/>
          </a:prstGeom>
          <a:solidFill>
            <a:srgbClr val="2F6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0" y="4705959"/>
            <a:ext cx="609447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95">
                <a:solidFill>
                  <a:srgbClr val="1F2937"/>
                </a:solidFill>
              </a:defRPr>
            </a:pPr>
            <a:r>
              <a:t>35</a:t>
            </a:r>
          </a:p>
        </p:txBody>
      </p:sp>
      <p:sp>
        <p:nvSpPr>
          <p:cNvPr id="9" name="Rectangle 8"/>
          <p:cNvSpPr/>
          <p:nvPr/>
        </p:nvSpPr>
        <p:spPr>
          <a:xfrm>
            <a:off x="7736738" y="3957689"/>
            <a:ext cx="609447" cy="705750"/>
          </a:xfrm>
          <a:prstGeom prst="rect">
            <a:avLst/>
          </a:prstGeom>
          <a:solidFill>
            <a:srgbClr val="2F6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36738" y="4705959"/>
            <a:ext cx="609447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95">
                <a:solidFill>
                  <a:srgbClr val="1F2937"/>
                </a:solidFill>
              </a:defRPr>
            </a:pPr>
            <a:r>
              <a:t>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15476" y="2018537"/>
            <a:ext cx="609447" cy="2644902"/>
          </a:xfrm>
          <a:prstGeom prst="rect">
            <a:avLst/>
          </a:prstGeom>
          <a:solidFill>
            <a:srgbClr val="F4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15476" y="4705959"/>
            <a:ext cx="609447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95">
                <a:solidFill>
                  <a:srgbClr val="1F2937"/>
                </a:solidFill>
              </a:defRPr>
            </a:pPr>
            <a:r>
              <a:t>55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94215" y="3281241"/>
            <a:ext cx="609447" cy="1382198"/>
          </a:xfrm>
          <a:prstGeom prst="rect">
            <a:avLst/>
          </a:prstGeom>
          <a:solidFill>
            <a:srgbClr val="2F6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94215" y="4705959"/>
            <a:ext cx="609447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95">
                <a:solidFill>
                  <a:srgbClr val="1F2937"/>
                </a:solidFill>
              </a:defRPr>
            </a:pPr>
            <a:r>
              <a:t>27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372953" y="1522475"/>
            <a:ext cx="609447" cy="3140964"/>
          </a:xfrm>
          <a:prstGeom prst="rect">
            <a:avLst/>
          </a:prstGeom>
          <a:solidFill>
            <a:srgbClr val="F4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372953" y="4705959"/>
            <a:ext cx="609447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95">
                <a:solidFill>
                  <a:srgbClr val="1F2937"/>
                </a:solidFill>
              </a:defRPr>
            </a:pPr>
            <a:r>
              <a:t>66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251692" y="3642013"/>
            <a:ext cx="609447" cy="1021426"/>
          </a:xfrm>
          <a:prstGeom prst="rect">
            <a:avLst/>
          </a:prstGeom>
          <a:solidFill>
            <a:srgbClr val="2F6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251692" y="4705959"/>
            <a:ext cx="609447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95">
                <a:solidFill>
                  <a:srgbClr val="1F2937"/>
                </a:solidFill>
              </a:defRPr>
            </a:pPr>
            <a:r>
              <a:t>19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130430" y="2514599"/>
            <a:ext cx="609447" cy="2148840"/>
          </a:xfrm>
          <a:prstGeom prst="rect">
            <a:avLst/>
          </a:prstGeom>
          <a:solidFill>
            <a:srgbClr val="2F6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130430" y="4705959"/>
            <a:ext cx="609447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95">
                <a:solidFill>
                  <a:srgbClr val="1F2937"/>
                </a:solidFill>
              </a:defRPr>
            </a:pPr>
            <a:r>
              <a:t>44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009168" y="4138075"/>
            <a:ext cx="609447" cy="525364"/>
          </a:xfrm>
          <a:prstGeom prst="rect">
            <a:avLst/>
          </a:prstGeom>
          <a:solidFill>
            <a:srgbClr val="2F6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009168" y="4705959"/>
            <a:ext cx="609447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95">
                <a:solidFill>
                  <a:srgbClr val="1F2937"/>
                </a:solidFill>
              </a:defRPr>
            </a:pPr>
            <a:r>
              <a:t>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492240"/>
            <a:ext cx="10881360" cy="18288"/>
          </a:xfrm>
          <a:prstGeom prst="rect">
            <a:avLst/>
          </a:prstGeom>
          <a:solidFill>
            <a:srgbClr val="2FC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6528816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D2DEEE"/>
                </a:solidFill>
              </a:defRPr>
            </a:pPr>
            <a:r>
              <a:t>Searching &amp; Sorting Visualizer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D2DEEE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182D"/>
                </a:solidFill>
              </a:defRPr>
            </a:pPr>
            <a:r>
              <a:t>What is the visualizer?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97A"/>
                </a:solidFill>
              </a:defRPr>
            </a:pPr>
            <a:r>
              <a:t>A browser-based tool that turns abstract algorithm steps into animations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383280" cy="3474720"/>
          </a:xfrm>
          <a:prstGeom prst="roundRect">
            <a:avLst/>
          </a:prstGeom>
          <a:solidFill>
            <a:srgbClr val="F3F7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0584" cy="3474720"/>
          </a:xfrm>
          <a:prstGeom prst="rect">
            <a:avLst/>
          </a:prstGeom>
          <a:solidFill>
            <a:srgbClr val="2F6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618488"/>
            <a:ext cx="2971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182D"/>
                </a:solidFill>
              </a:defRPr>
            </a:pPr>
            <a: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039112"/>
            <a:ext cx="294436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User enters or generates an array. Controls choose an algorithm and speed.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383280" cy="3474720"/>
          </a:xfrm>
          <a:prstGeom prst="roundRect">
            <a:avLst/>
          </a:prstGeom>
          <a:solidFill>
            <a:srgbClr val="F3F7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417320"/>
            <a:ext cx="100584" cy="3474720"/>
          </a:xfrm>
          <a:prstGeom prst="rect">
            <a:avLst/>
          </a:prstGeom>
          <a:solidFill>
            <a:srgbClr val="F4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45152" y="1618488"/>
            <a:ext cx="2971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182D"/>
                </a:solidFill>
              </a:defRPr>
            </a:pPr>
            <a: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2039112"/>
            <a:ext cx="294436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The app runs one operation at a time: compare, swap, move, or check.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17320"/>
            <a:ext cx="3383280" cy="3474720"/>
          </a:xfrm>
          <a:prstGeom prst="roundRect">
            <a:avLst/>
          </a:prstGeom>
          <a:solidFill>
            <a:srgbClr val="F3F7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1417320"/>
            <a:ext cx="100584" cy="3474720"/>
          </a:xfrm>
          <a:prstGeom prst="rect">
            <a:avLst/>
          </a:prstGeom>
          <a:solidFill>
            <a:srgbClr val="22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02752" y="1618488"/>
            <a:ext cx="2971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182D"/>
                </a:solidFill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2039112"/>
            <a:ext cx="294436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Colored bars and counters show the current state and final result.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6792620"/>
            <a:ext cx="452170" cy="385419"/>
          </a:xfrm>
          <a:prstGeom prst="rect">
            <a:avLst/>
          </a:prstGeom>
          <a:solidFill>
            <a:srgbClr val="2F6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0" y="7209586"/>
            <a:ext cx="45217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35">
                <a:solidFill>
                  <a:srgbClr val="1F2937"/>
                </a:solidFill>
              </a:defRPr>
            </a:pPr>
            <a: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95167" y="5644316"/>
            <a:ext cx="452170" cy="1533723"/>
          </a:xfrm>
          <a:prstGeom prst="rect">
            <a:avLst/>
          </a:prstGeom>
          <a:solidFill>
            <a:srgbClr val="2F6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95167" y="7209586"/>
            <a:ext cx="45217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35">
                <a:solidFill>
                  <a:srgbClr val="1F2937"/>
                </a:solidFill>
              </a:defRPr>
            </a:pPr>
            <a:r>
              <a:t>31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47134" y="6218468"/>
            <a:ext cx="452170" cy="959571"/>
          </a:xfrm>
          <a:prstGeom prst="rect">
            <a:avLst/>
          </a:prstGeom>
          <a:solidFill>
            <a:srgbClr val="2F6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047134" y="7209586"/>
            <a:ext cx="45217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35">
                <a:solidFill>
                  <a:srgbClr val="1F2937"/>
                </a:solidFill>
              </a:defRPr>
            </a:pPr>
            <a:r>
              <a:t>18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99101" y="5158496"/>
            <a:ext cx="452170" cy="2019543"/>
          </a:xfrm>
          <a:prstGeom prst="rect">
            <a:avLst/>
          </a:prstGeom>
          <a:solidFill>
            <a:srgbClr val="E2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99101" y="7209586"/>
            <a:ext cx="45217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35">
                <a:solidFill>
                  <a:srgbClr val="1F2937"/>
                </a:solidFill>
              </a:defRPr>
            </a:pPr>
            <a:r>
              <a:t>42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51068" y="5909309"/>
            <a:ext cx="452170" cy="1268730"/>
          </a:xfrm>
          <a:prstGeom prst="rect">
            <a:avLst/>
          </a:prstGeom>
          <a:solidFill>
            <a:srgbClr val="2F6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51068" y="7209586"/>
            <a:ext cx="45217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35">
                <a:solidFill>
                  <a:srgbClr val="1F2937"/>
                </a:solidFill>
              </a:defRPr>
            </a:pPr>
            <a:r>
              <a:t>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03036" y="4805171"/>
            <a:ext cx="452170" cy="2372868"/>
          </a:xfrm>
          <a:prstGeom prst="rect">
            <a:avLst/>
          </a:prstGeom>
          <a:solidFill>
            <a:srgbClr val="2F6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03036" y="7209586"/>
            <a:ext cx="45217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35">
                <a:solidFill>
                  <a:srgbClr val="1F2937"/>
                </a:solidFill>
              </a:defRPr>
            </a:pPr>
            <a:r>
              <a:t>50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55003" y="6527627"/>
            <a:ext cx="452170" cy="650412"/>
          </a:xfrm>
          <a:prstGeom prst="rect">
            <a:avLst/>
          </a:prstGeom>
          <a:solidFill>
            <a:srgbClr val="2F6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55003" y="7209586"/>
            <a:ext cx="45217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35">
                <a:solidFill>
                  <a:srgbClr val="1F2937"/>
                </a:solidFill>
              </a:defRPr>
            </a:pPr>
            <a:r>
              <a:t>11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6492240"/>
            <a:ext cx="10881360" cy="18288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8368" y="6528816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97A"/>
                </a:solidFill>
              </a:defRPr>
            </a:pPr>
            <a:r>
              <a:t>Searching &amp; Sorting Visualizer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97A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182D"/>
                </a:solidFill>
              </a:defRPr>
            </a:pPr>
            <a:r>
              <a:t>Why build 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97A"/>
                </a:solidFill>
              </a:defRPr>
            </a:pPr>
            <a:r>
              <a:t>Visualization connects code execution with algorithmic thinking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6400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F2937"/>
                </a:solidFill>
              </a:defRPr>
            </a:pPr>
            <a:r>
              <a:t>• See exactly why an algorithm takes time: every comparison and swap is displayed</a:t>
            </a:r>
          </a:p>
          <a:p>
            <a:pPr>
              <a:spcAft>
                <a:spcPts val="1300"/>
              </a:spcAft>
              <a:defRPr sz="1800">
                <a:solidFill>
                  <a:srgbClr val="1F2937"/>
                </a:solidFill>
              </a:defRPr>
            </a:pPr>
            <a:r>
              <a:t>• Compare algorithms on the same input instead of memorizing their names</a:t>
            </a:r>
          </a:p>
          <a:p>
            <a:pPr>
              <a:spcAft>
                <a:spcPts val="1300"/>
              </a:spcAft>
              <a:defRPr sz="1800">
                <a:solidFill>
                  <a:srgbClr val="1F2937"/>
                </a:solidFill>
              </a:defRPr>
            </a:pPr>
            <a:r>
              <a:t>• Practice JavaScript concepts: arrays, functions, events, timers, and DOM updates</a:t>
            </a:r>
          </a:p>
          <a:p>
            <a:pPr>
              <a:spcAft>
                <a:spcPts val="1300"/>
              </a:spcAft>
              <a:defRPr sz="1800">
                <a:solidFill>
                  <a:srgbClr val="1F2937"/>
                </a:solidFill>
              </a:defRPr>
            </a:pPr>
            <a:r>
              <a:t>• Create a strong learning project for a portfolio or classroom demonstration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1554480"/>
            <a:ext cx="3566160" cy="1051560"/>
          </a:xfrm>
          <a:prstGeom prst="roundRect">
            <a:avLst/>
          </a:prstGeom>
          <a:solidFill>
            <a:srgbClr val="F3F7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35240" y="1554480"/>
            <a:ext cx="100584" cy="1051560"/>
          </a:xfrm>
          <a:prstGeom prst="rect">
            <a:avLst/>
          </a:prstGeom>
          <a:solidFill>
            <a:srgbClr val="2FC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91271" y="1755648"/>
            <a:ext cx="31546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182D"/>
                </a:solidFill>
              </a:defRPr>
            </a:pPr>
            <a:r>
              <a:t>Learning outcome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91271" y="2176272"/>
            <a:ext cx="3127248" cy="320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Understand the “how”, not just the final sorted array.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2880360"/>
            <a:ext cx="3566160" cy="1051560"/>
          </a:xfrm>
          <a:prstGeom prst="roundRect">
            <a:avLst/>
          </a:prstGeom>
          <a:solidFill>
            <a:srgbClr val="F3F7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635240" y="2880360"/>
            <a:ext cx="100584" cy="1051560"/>
          </a:xfrm>
          <a:prstGeom prst="rect">
            <a:avLst/>
          </a:prstGeom>
          <a:solidFill>
            <a:srgbClr val="F4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91271" y="3081528"/>
            <a:ext cx="31546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182D"/>
                </a:solidFill>
              </a:defRPr>
            </a:pPr>
            <a:r>
              <a:t>User engagement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1271" y="3502152"/>
            <a:ext cx="3127248" cy="320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Pause, replay, and change speed to inspect each step.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4206240"/>
            <a:ext cx="3566160" cy="1051560"/>
          </a:xfrm>
          <a:prstGeom prst="roundRect">
            <a:avLst/>
          </a:prstGeom>
          <a:solidFill>
            <a:srgbClr val="F3F7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635240" y="4206240"/>
            <a:ext cx="100584" cy="1051560"/>
          </a:xfrm>
          <a:prstGeom prst="rect">
            <a:avLst/>
          </a:prstGeom>
          <a:solidFill>
            <a:srgbClr val="22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91271" y="4407407"/>
            <a:ext cx="31546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182D"/>
                </a:solidFill>
              </a:defRPr>
            </a:pPr>
            <a:r>
              <a:t>Engineering practice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91271" y="4828031"/>
            <a:ext cx="3127248" cy="320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Separate algorithm logic from UI rendering.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92240"/>
            <a:ext cx="10881360" cy="18288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6528816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97A"/>
                </a:solidFill>
              </a:defRPr>
            </a:pPr>
            <a:r>
              <a:t>Searching &amp; Sorting Visualizer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97A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182D"/>
                </a:solidFill>
              </a:defRPr>
            </a:pPr>
            <a:r>
              <a:t>Core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97A"/>
                </a:solidFill>
              </a:defRPr>
            </a:pPr>
            <a:r>
              <a:t>A clear visualizer needs controls, feedback, and a predictable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383280" cy="1600200"/>
          </a:xfrm>
          <a:prstGeom prst="roundRect">
            <a:avLst/>
          </a:prstGeom>
          <a:solidFill>
            <a:srgbClr val="F3F7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0584" cy="1600200"/>
          </a:xfrm>
          <a:prstGeom prst="rect">
            <a:avLst/>
          </a:prstGeom>
          <a:solidFill>
            <a:srgbClr val="2F6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527048"/>
            <a:ext cx="2971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182D"/>
                </a:solidFill>
              </a:defRPr>
            </a:pPr>
            <a:r>
              <a:t>Generate array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1947672"/>
            <a:ext cx="29443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Create random values and choose array size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325880"/>
            <a:ext cx="3383280" cy="1600200"/>
          </a:xfrm>
          <a:prstGeom prst="roundRect">
            <a:avLst/>
          </a:prstGeom>
          <a:solidFill>
            <a:srgbClr val="F3F7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26280" y="1325880"/>
            <a:ext cx="100584" cy="1600200"/>
          </a:xfrm>
          <a:prstGeom prst="rect">
            <a:avLst/>
          </a:prstGeom>
          <a:solidFill>
            <a:srgbClr val="22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82312" y="1527048"/>
            <a:ext cx="2971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182D"/>
                </a:solidFill>
              </a:defRPr>
            </a:pPr>
            <a:r>
              <a:t>Choose algorithm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2312" y="1947672"/>
            <a:ext cx="29443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Select search or sorting method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325880"/>
            <a:ext cx="3383280" cy="1600200"/>
          </a:xfrm>
          <a:prstGeom prst="roundRect">
            <a:avLst/>
          </a:prstGeom>
          <a:solidFill>
            <a:srgbClr val="F3F7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321040" y="1325880"/>
            <a:ext cx="100584" cy="1600200"/>
          </a:xfrm>
          <a:prstGeom prst="rect">
            <a:avLst/>
          </a:prstGeom>
          <a:solidFill>
            <a:srgbClr val="F4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77072" y="1527048"/>
            <a:ext cx="2971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182D"/>
                </a:solidFill>
              </a:defRPr>
            </a:pPr>
            <a:r>
              <a:t>Animate 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1947672"/>
            <a:ext cx="29443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Highlight compared items and swaps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74720"/>
            <a:ext cx="3383280" cy="1600200"/>
          </a:xfrm>
          <a:prstGeom prst="roundRect">
            <a:avLst/>
          </a:prstGeom>
          <a:solidFill>
            <a:srgbClr val="F3F7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3474720"/>
            <a:ext cx="100584" cy="1600200"/>
          </a:xfrm>
          <a:prstGeom prst="rect">
            <a:avLst/>
          </a:prstGeom>
          <a:solidFill>
            <a:srgbClr val="E2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7552" y="3675887"/>
            <a:ext cx="2971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182D"/>
                </a:solidFill>
              </a:defRPr>
            </a:pPr>
            <a:r>
              <a:t>Control playback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4096511"/>
            <a:ext cx="29443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Start, pause, reset, and adjust speed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6280" y="3474720"/>
            <a:ext cx="3383280" cy="1600200"/>
          </a:xfrm>
          <a:prstGeom prst="roundRect">
            <a:avLst/>
          </a:prstGeom>
          <a:solidFill>
            <a:srgbClr val="F3F7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26280" y="3474720"/>
            <a:ext cx="100584" cy="1600200"/>
          </a:xfrm>
          <a:prstGeom prst="rect">
            <a:avLst/>
          </a:prstGeom>
          <a:solidFill>
            <a:srgbClr val="2FC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82312" y="3675887"/>
            <a:ext cx="2971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182D"/>
                </a:solidFill>
              </a:defRPr>
            </a:pPr>
            <a:r>
              <a:t>Show metrics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82312" y="4096511"/>
            <a:ext cx="29443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Count comparisons, swaps, and elapsed time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3474720"/>
            <a:ext cx="3383280" cy="1600200"/>
          </a:xfrm>
          <a:prstGeom prst="roundRect">
            <a:avLst/>
          </a:prstGeom>
          <a:solidFill>
            <a:srgbClr val="F3F7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321040" y="3474720"/>
            <a:ext cx="100584" cy="1600200"/>
          </a:xfrm>
          <a:prstGeom prst="rect">
            <a:avLst/>
          </a:prstGeom>
          <a:solidFill>
            <a:srgbClr val="FAC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77072" y="3675887"/>
            <a:ext cx="2971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182D"/>
                </a:solidFill>
              </a:defRPr>
            </a:pPr>
            <a:r>
              <a:t>Display 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77072" y="4096511"/>
            <a:ext cx="29443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Mark found index or completed sorted array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6492240"/>
            <a:ext cx="10881360" cy="18288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" y="6528816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97A"/>
                </a:solidFill>
              </a:defRPr>
            </a:pPr>
            <a:r>
              <a:t>Searching &amp; Sorting Visualizer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97A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182D"/>
                </a:solidFill>
              </a:defRPr>
            </a:pPr>
            <a:r>
              <a:t>Searching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97A"/>
                </a:solidFill>
              </a:defRPr>
            </a:pPr>
            <a:r>
              <a:t>Searching locates a target value within an array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303520" cy="3566160"/>
          </a:xfrm>
          <a:prstGeom prst="roundRect">
            <a:avLst/>
          </a:prstGeom>
          <a:solidFill>
            <a:srgbClr val="F3F7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0584" cy="3566160"/>
          </a:xfrm>
          <a:prstGeom prst="rect">
            <a:avLst/>
          </a:prstGeom>
          <a:solidFill>
            <a:srgbClr val="2F6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527048"/>
            <a:ext cx="4892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182D"/>
                </a:solidFill>
              </a:defRPr>
            </a:pPr>
            <a:r>
              <a:t>Linear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1947672"/>
            <a:ext cx="4864608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Checks elements one by one from left to right. It works on unsorted data and is simple to visualize. Worst case: O(n).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212080" cy="3566160"/>
          </a:xfrm>
          <a:prstGeom prst="roundRect">
            <a:avLst/>
          </a:prstGeom>
          <a:solidFill>
            <a:srgbClr val="F3F7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325880"/>
            <a:ext cx="100584" cy="3566160"/>
          </a:xfrm>
          <a:prstGeom prst="rect">
            <a:avLst/>
          </a:prstGeom>
          <a:solidFill>
            <a:srgbClr val="22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73952" y="1527048"/>
            <a:ext cx="4800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182D"/>
                </a:solidFill>
              </a:defRPr>
            </a:pPr>
            <a:r>
              <a:t>Binary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947672"/>
            <a:ext cx="4773168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Repeatedly halves the search range. It requires a sorted array but is much faster for large inputs. Worst case: O(log n).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0240" y="6703255"/>
            <a:ext cx="471830" cy="474784"/>
          </a:xfrm>
          <a:prstGeom prst="rect">
            <a:avLst/>
          </a:prstGeom>
          <a:solidFill>
            <a:srgbClr val="2F6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20240" y="7210958"/>
            <a:ext cx="47183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80">
                <a:solidFill>
                  <a:srgbClr val="1F2937"/>
                </a:solidFill>
              </a:defRPr>
            </a:pPr>
            <a:r>
              <a:t>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0553" y="6437375"/>
            <a:ext cx="471830" cy="740664"/>
          </a:xfrm>
          <a:prstGeom prst="rect">
            <a:avLst/>
          </a:prstGeom>
          <a:solidFill>
            <a:srgbClr val="2F6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00553" y="7210958"/>
            <a:ext cx="47183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80">
                <a:solidFill>
                  <a:srgbClr val="1F2937"/>
                </a:solidFill>
              </a:defRPr>
            </a:pPr>
            <a:r>
              <a:t>13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80867" y="6171496"/>
            <a:ext cx="471830" cy="1006543"/>
          </a:xfrm>
          <a:prstGeom prst="rect">
            <a:avLst/>
          </a:prstGeom>
          <a:solidFill>
            <a:srgbClr val="2F6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80867" y="7210958"/>
            <a:ext cx="47183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80">
                <a:solidFill>
                  <a:srgbClr val="1F2937"/>
                </a:solidFill>
              </a:defRPr>
            </a:pPr>
            <a:r>
              <a:t>19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61180" y="5905617"/>
            <a:ext cx="471830" cy="1272422"/>
          </a:xfrm>
          <a:prstGeom prst="rect">
            <a:avLst/>
          </a:prstGeom>
          <a:solidFill>
            <a:srgbClr val="2F6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61180" y="7210958"/>
            <a:ext cx="47183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80">
                <a:solidFill>
                  <a:srgbClr val="1F2937"/>
                </a:solidFill>
              </a:defRPr>
            </a:pPr>
            <a:r>
              <a:t>25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1494" y="5639737"/>
            <a:ext cx="471830" cy="1538302"/>
          </a:xfrm>
          <a:prstGeom prst="rect">
            <a:avLst/>
          </a:prstGeom>
          <a:solidFill>
            <a:srgbClr val="E2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41494" y="7210958"/>
            <a:ext cx="47183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80">
                <a:solidFill>
                  <a:srgbClr val="1F2937"/>
                </a:solidFill>
              </a:defRPr>
            </a:pPr>
            <a:r>
              <a:t>31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21808" y="5329545"/>
            <a:ext cx="471830" cy="1848494"/>
          </a:xfrm>
          <a:prstGeom prst="rect">
            <a:avLst/>
          </a:prstGeom>
          <a:solidFill>
            <a:srgbClr val="2F6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21808" y="7210958"/>
            <a:ext cx="47183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80">
                <a:solidFill>
                  <a:srgbClr val="1F2937"/>
                </a:solidFill>
              </a:defRPr>
            </a:pPr>
            <a:r>
              <a:t>38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02121" y="5063665"/>
            <a:ext cx="471830" cy="2114374"/>
          </a:xfrm>
          <a:prstGeom prst="rect">
            <a:avLst/>
          </a:prstGeom>
          <a:solidFill>
            <a:srgbClr val="2F6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02121" y="7210958"/>
            <a:ext cx="47183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80">
                <a:solidFill>
                  <a:srgbClr val="1F2937"/>
                </a:solidFill>
              </a:defRPr>
            </a:pPr>
            <a:r>
              <a:t>44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82435" y="4709159"/>
            <a:ext cx="471830" cy="2468880"/>
          </a:xfrm>
          <a:prstGeom prst="rect">
            <a:avLst/>
          </a:prstGeom>
          <a:solidFill>
            <a:srgbClr val="2F6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82435" y="7210958"/>
            <a:ext cx="47183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80">
                <a:solidFill>
                  <a:srgbClr val="1F2937"/>
                </a:solidFill>
              </a:defRPr>
            </a:pPr>
            <a:r>
              <a:t>52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5166360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2A699"/>
                </a:solidFill>
              </a:defRPr>
            </a:pPr>
            <a:r>
              <a:t>Target = 31 → found at index 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6492240"/>
            <a:ext cx="10881360" cy="18288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" y="6528816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97A"/>
                </a:solidFill>
              </a:defRPr>
            </a:pPr>
            <a:r>
              <a:t>Searching &amp; Sorting Visualizer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97A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182D"/>
                </a:solidFill>
              </a:defRPr>
            </a:pPr>
            <a:r>
              <a:t>Sorting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97A"/>
                </a:solidFill>
              </a:defRPr>
            </a:pPr>
            <a:r>
              <a:t>Sorting arranges values in ascending or descending order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920240" cy="502920"/>
          </a:xfrm>
          <a:prstGeom prst="rect">
            <a:avLst/>
          </a:prstGeom>
          <a:solidFill>
            <a:srgbClr val="0C18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435607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Algorithm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40" y="1325880"/>
            <a:ext cx="4572000" cy="502920"/>
          </a:xfrm>
          <a:prstGeom prst="rect">
            <a:avLst/>
          </a:prstGeom>
          <a:solidFill>
            <a:srgbClr val="0C18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697480" y="1435607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Main idea</a:t>
            </a:r>
          </a:p>
        </p:txBody>
      </p:sp>
      <p:sp>
        <p:nvSpPr>
          <p:cNvPr id="8" name="Rectangle 7"/>
          <p:cNvSpPr/>
          <p:nvPr/>
        </p:nvSpPr>
        <p:spPr>
          <a:xfrm>
            <a:off x="7178040" y="1325880"/>
            <a:ext cx="1554480" cy="502920"/>
          </a:xfrm>
          <a:prstGeom prst="rect">
            <a:avLst/>
          </a:prstGeom>
          <a:solidFill>
            <a:srgbClr val="0C18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69479" y="1435607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Worst case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32519" y="1325880"/>
            <a:ext cx="2468880" cy="502920"/>
          </a:xfrm>
          <a:prstGeom prst="rect">
            <a:avLst/>
          </a:prstGeom>
          <a:solidFill>
            <a:srgbClr val="0C18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23959" y="1435607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Visualizer takeaway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1828800"/>
            <a:ext cx="1920240" cy="777240"/>
          </a:xfrm>
          <a:prstGeom prst="rect">
            <a:avLst/>
          </a:prstGeom>
          <a:solidFill>
            <a:srgbClr val="F3F7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1947672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Bubble sort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40" y="1828800"/>
            <a:ext cx="4572000" cy="777240"/>
          </a:xfrm>
          <a:prstGeom prst="rect">
            <a:avLst/>
          </a:prstGeom>
          <a:solidFill>
            <a:srgbClr val="F3F7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97480" y="1947672"/>
            <a:ext cx="4389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Repeatedly swaps adjacent out-of-order values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78040" y="1828800"/>
            <a:ext cx="1554480" cy="777240"/>
          </a:xfrm>
          <a:prstGeom prst="rect">
            <a:avLst/>
          </a:prstGeom>
          <a:solidFill>
            <a:srgbClr val="F3F7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69479" y="1947672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O(n²)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32519" y="1828800"/>
            <a:ext cx="2468880" cy="777240"/>
          </a:xfrm>
          <a:prstGeom prst="rect">
            <a:avLst/>
          </a:prstGeom>
          <a:solidFill>
            <a:srgbClr val="F3F7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23959" y="1947672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Easy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2606040"/>
            <a:ext cx="19202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2724912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Selection sort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06040" y="2606040"/>
            <a:ext cx="457200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697480" y="2724912"/>
            <a:ext cx="4389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Selects the minimum value for each position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78040" y="2606040"/>
            <a:ext cx="155448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69479" y="2724912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O(n²)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32519" y="2606040"/>
            <a:ext cx="246888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23959" y="2724912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Few swaps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3383280"/>
            <a:ext cx="1920240" cy="777240"/>
          </a:xfrm>
          <a:prstGeom prst="rect">
            <a:avLst/>
          </a:prstGeom>
          <a:solidFill>
            <a:srgbClr val="F3F7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3502152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Insertion sort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06040" y="3383280"/>
            <a:ext cx="4572000" cy="777240"/>
          </a:xfrm>
          <a:prstGeom prst="rect">
            <a:avLst/>
          </a:prstGeom>
          <a:solidFill>
            <a:srgbClr val="F3F7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697480" y="3502152"/>
            <a:ext cx="4389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Inserts each value into an already sorted part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78040" y="3383280"/>
            <a:ext cx="1554480" cy="777240"/>
          </a:xfrm>
          <a:prstGeom prst="rect">
            <a:avLst/>
          </a:prstGeom>
          <a:solidFill>
            <a:srgbClr val="F3F7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269479" y="3502152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O(n²)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32519" y="3383280"/>
            <a:ext cx="2468880" cy="777240"/>
          </a:xfrm>
          <a:prstGeom prst="rect">
            <a:avLst/>
          </a:prstGeom>
          <a:solidFill>
            <a:srgbClr val="F3F7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823959" y="3502152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Good for small / nearly sorted data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4160520"/>
            <a:ext cx="19202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7240" y="4279392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Merge sort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06040" y="4160520"/>
            <a:ext cx="457200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697480" y="4279392"/>
            <a:ext cx="4389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Splits, sorts, and merges subarrays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78040" y="4160520"/>
            <a:ext cx="155448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269479" y="4279392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O(n log n)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32519" y="4160520"/>
            <a:ext cx="246888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823959" y="4279392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Efficient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6492240"/>
            <a:ext cx="10881360" cy="18288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8368" y="6528816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97A"/>
                </a:solidFill>
              </a:defRPr>
            </a:pPr>
            <a:r>
              <a:t>Searching &amp; Sorting Visualizer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97A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182D"/>
                </a:solidFill>
              </a:defRPr>
            </a:pPr>
            <a:r>
              <a:t>How animation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97A"/>
                </a:solidFill>
              </a:defRPr>
            </a:pPr>
            <a:r>
              <a:t>Algorithms become observable when each logical operation yields a UI update</a:t>
            </a:r>
          </a:p>
        </p:txBody>
      </p:sp>
      <p:sp>
        <p:nvSpPr>
          <p:cNvPr id="4" name="Oval 3"/>
          <p:cNvSpPr/>
          <p:nvPr/>
        </p:nvSpPr>
        <p:spPr>
          <a:xfrm>
            <a:off x="1344168" y="1600200"/>
            <a:ext cx="594360" cy="594360"/>
          </a:xfrm>
          <a:prstGeom prst="ellipse">
            <a:avLst/>
          </a:prstGeom>
          <a:solidFill>
            <a:srgbClr val="2F6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44168" y="1746504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423160"/>
            <a:ext cx="1920240" cy="1874519"/>
          </a:xfrm>
          <a:prstGeom prst="roundRect">
            <a:avLst/>
          </a:prstGeom>
          <a:solidFill>
            <a:srgbClr val="F3F7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2423160"/>
            <a:ext cx="100584" cy="1874519"/>
          </a:xfrm>
          <a:prstGeom prst="rect">
            <a:avLst/>
          </a:prstGeom>
          <a:solidFill>
            <a:srgbClr val="2F6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2624328"/>
            <a:ext cx="1508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182D"/>
                </a:solidFill>
              </a:defRPr>
            </a:pPr>
            <a:r>
              <a:t>Read array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3044952"/>
            <a:ext cx="1481328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Create values and target input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33472" y="1773936"/>
            <a:ext cx="274320" cy="228600"/>
          </a:xfrm>
          <a:prstGeom prst="rightArrow">
            <a:avLst/>
          </a:prstGeom>
          <a:solidFill>
            <a:srgbClr val="5B6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630168" y="1600200"/>
            <a:ext cx="594360" cy="594360"/>
          </a:xfrm>
          <a:prstGeom prst="ellipse">
            <a:avLst/>
          </a:prstGeom>
          <a:solidFill>
            <a:srgbClr val="F4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30168" y="1746504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1800" y="2423160"/>
            <a:ext cx="1920240" cy="1874519"/>
          </a:xfrm>
          <a:prstGeom prst="roundRect">
            <a:avLst/>
          </a:prstGeom>
          <a:solidFill>
            <a:srgbClr val="F3F7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971800" y="2423160"/>
            <a:ext cx="100584" cy="1874519"/>
          </a:xfrm>
          <a:prstGeom prst="rect">
            <a:avLst/>
          </a:prstGeom>
          <a:solidFill>
            <a:srgbClr val="F4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27832" y="2624328"/>
            <a:ext cx="1508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182D"/>
                </a:solidFill>
              </a:defRPr>
            </a:pPr>
            <a:r>
              <a:t>Run generator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27832" y="3044952"/>
            <a:ext cx="1481328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Algorithm pauses after each meaningful step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919472" y="1773936"/>
            <a:ext cx="274320" cy="228600"/>
          </a:xfrm>
          <a:prstGeom prst="rightArrow">
            <a:avLst/>
          </a:prstGeom>
          <a:solidFill>
            <a:srgbClr val="5B6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916168" y="1600200"/>
            <a:ext cx="594360" cy="594360"/>
          </a:xfrm>
          <a:prstGeom prst="ellipse">
            <a:avLst/>
          </a:prstGeom>
          <a:solidFill>
            <a:srgbClr val="22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16168" y="1746504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57800" y="2423160"/>
            <a:ext cx="1920240" cy="1874519"/>
          </a:xfrm>
          <a:prstGeom prst="roundRect">
            <a:avLst/>
          </a:prstGeom>
          <a:solidFill>
            <a:srgbClr val="F3F7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257800" y="2423160"/>
            <a:ext cx="100584" cy="1874519"/>
          </a:xfrm>
          <a:prstGeom prst="rect">
            <a:avLst/>
          </a:prstGeom>
          <a:solidFill>
            <a:srgbClr val="22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513832" y="2624328"/>
            <a:ext cx="1508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182D"/>
                </a:solidFill>
              </a:defRPr>
            </a:pPr>
            <a:r>
              <a:t>Update state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3832" y="3044952"/>
            <a:ext cx="1481328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Store compared, swapped, and sorted indices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205472" y="1773936"/>
            <a:ext cx="274320" cy="228600"/>
          </a:xfrm>
          <a:prstGeom prst="rightArrow">
            <a:avLst/>
          </a:prstGeom>
          <a:solidFill>
            <a:srgbClr val="5B6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202168" y="1600200"/>
            <a:ext cx="594360" cy="594360"/>
          </a:xfrm>
          <a:prstGeom prst="ellipse">
            <a:avLst/>
          </a:prstGeom>
          <a:solidFill>
            <a:srgbClr val="E2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02168" y="1746504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43800" y="2423160"/>
            <a:ext cx="1920240" cy="1874519"/>
          </a:xfrm>
          <a:prstGeom prst="roundRect">
            <a:avLst/>
          </a:prstGeom>
          <a:solidFill>
            <a:srgbClr val="F3F7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543800" y="2423160"/>
            <a:ext cx="100584" cy="1874519"/>
          </a:xfrm>
          <a:prstGeom prst="rect">
            <a:avLst/>
          </a:prstGeom>
          <a:solidFill>
            <a:srgbClr val="E2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99831" y="2624328"/>
            <a:ext cx="1508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182D"/>
                </a:solidFill>
              </a:defRPr>
            </a:pPr>
            <a:r>
              <a:t>Render bars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99831" y="3044952"/>
            <a:ext cx="1481328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Change bar height and color in the DOM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491472" y="1773936"/>
            <a:ext cx="274320" cy="228600"/>
          </a:xfrm>
          <a:prstGeom prst="rightArrow">
            <a:avLst/>
          </a:prstGeom>
          <a:solidFill>
            <a:srgbClr val="5B6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488168" y="1600200"/>
            <a:ext cx="594360" cy="594360"/>
          </a:xfrm>
          <a:prstGeom prst="ellipse">
            <a:avLst/>
          </a:prstGeom>
          <a:solidFill>
            <a:srgbClr val="2FC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488168" y="1746504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829800" y="2423160"/>
            <a:ext cx="1920240" cy="1874519"/>
          </a:xfrm>
          <a:prstGeom prst="roundRect">
            <a:avLst/>
          </a:prstGeom>
          <a:solidFill>
            <a:srgbClr val="F3F7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829800" y="2423160"/>
            <a:ext cx="100584" cy="1874519"/>
          </a:xfrm>
          <a:prstGeom prst="rect">
            <a:avLst/>
          </a:prstGeom>
          <a:solidFill>
            <a:srgbClr val="2FC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085832" y="2624328"/>
            <a:ext cx="1508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182D"/>
                </a:solidFill>
              </a:defRPr>
            </a:pPr>
            <a:r>
              <a:t>Delay &amp; repeat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85832" y="3044952"/>
            <a:ext cx="1481328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Use a small delay to control animation speed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86200" y="5145459"/>
            <a:ext cx="491490" cy="2124020"/>
          </a:xfrm>
          <a:prstGeom prst="rect">
            <a:avLst/>
          </a:prstGeom>
          <a:solidFill>
            <a:srgbClr val="2F6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886200" y="7303770"/>
            <a:ext cx="49149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5">
                <a:solidFill>
                  <a:srgbClr val="1F2937"/>
                </a:solidFill>
              </a:defRPr>
            </a:pPr>
            <a:r>
              <a:t>40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4860" y="6370102"/>
            <a:ext cx="491490" cy="899377"/>
          </a:xfrm>
          <a:prstGeom prst="rect">
            <a:avLst/>
          </a:prstGeom>
          <a:solidFill>
            <a:srgbClr val="F4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94860" y="7303770"/>
            <a:ext cx="49149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5">
                <a:solidFill>
                  <a:srgbClr val="1F2937"/>
                </a:solidFill>
              </a:defRPr>
            </a:pPr>
            <a:r>
              <a:t>15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03520" y="5537345"/>
            <a:ext cx="491490" cy="1732134"/>
          </a:xfrm>
          <a:prstGeom prst="rect">
            <a:avLst/>
          </a:prstGeom>
          <a:solidFill>
            <a:srgbClr val="F4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303520" y="7303770"/>
            <a:ext cx="49149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5">
                <a:solidFill>
                  <a:srgbClr val="1F2937"/>
                </a:solidFill>
              </a:defRPr>
            </a:pPr>
            <a:r>
              <a:t>32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12179" y="6713002"/>
            <a:ext cx="491490" cy="556477"/>
          </a:xfrm>
          <a:prstGeom prst="rect">
            <a:avLst/>
          </a:prstGeom>
          <a:solidFill>
            <a:srgbClr val="2F6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012179" y="7303770"/>
            <a:ext cx="49149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5">
                <a:solidFill>
                  <a:srgbClr val="1F2937"/>
                </a:solidFill>
              </a:defRPr>
            </a:pPr>
            <a:r>
              <a:t>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20840" y="5880245"/>
            <a:ext cx="491490" cy="1389234"/>
          </a:xfrm>
          <a:prstGeom prst="rect">
            <a:avLst/>
          </a:prstGeom>
          <a:solidFill>
            <a:srgbClr val="2F6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720840" y="7303770"/>
            <a:ext cx="49149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5">
                <a:solidFill>
                  <a:srgbClr val="1F2937"/>
                </a:solidFill>
              </a:defRPr>
            </a:pPr>
            <a:r>
              <a:t>25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29500" y="4704588"/>
            <a:ext cx="491490" cy="2564892"/>
          </a:xfrm>
          <a:prstGeom prst="rect">
            <a:avLst/>
          </a:prstGeom>
          <a:solidFill>
            <a:srgbClr val="2F6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429500" y="7303770"/>
            <a:ext cx="49149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5">
                <a:solidFill>
                  <a:srgbClr val="1F2937"/>
                </a:solidFill>
              </a:defRPr>
            </a:pPr>
            <a:r>
              <a:t>49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" y="6492240"/>
            <a:ext cx="10881360" cy="18288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8368" y="6528816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97A"/>
                </a:solidFill>
              </a:defRPr>
            </a:pPr>
            <a:r>
              <a:t>Searching &amp; Sorting Visualizer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97A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182D"/>
                </a:solidFill>
              </a:defRPr>
            </a:pPr>
            <a:r>
              <a:t>Example: bubble-sort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97A"/>
                </a:solidFill>
              </a:defRPr>
            </a:pPr>
            <a:r>
              <a:t>Compare adjacent values; swap them if the left value is larger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45955"/>
            <a:ext cx="648766" cy="2826044"/>
          </a:xfrm>
          <a:prstGeom prst="rect">
            <a:avLst/>
          </a:prstGeom>
          <a:solidFill>
            <a:srgbClr val="F4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617262"/>
            <a:ext cx="64876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85">
                <a:solidFill>
                  <a:srgbClr val="1F2937"/>
                </a:solidFill>
              </a:defRPr>
            </a:pPr>
            <a:r>
              <a:t>42</a:t>
            </a:r>
          </a:p>
        </p:txBody>
      </p:sp>
      <p:sp>
        <p:nvSpPr>
          <p:cNvPr id="6" name="Rectangle 5"/>
          <p:cNvSpPr/>
          <p:nvPr/>
        </p:nvSpPr>
        <p:spPr>
          <a:xfrm>
            <a:off x="1849831" y="3266785"/>
            <a:ext cx="648766" cy="1305214"/>
          </a:xfrm>
          <a:prstGeom prst="rect">
            <a:avLst/>
          </a:prstGeom>
          <a:solidFill>
            <a:srgbClr val="F4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49831" y="4617262"/>
            <a:ext cx="64876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85">
                <a:solidFill>
                  <a:srgbClr val="1F2937"/>
                </a:solidFill>
              </a:defRPr>
            </a:pPr>
            <a: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5262" y="2316266"/>
            <a:ext cx="648766" cy="2255733"/>
          </a:xfrm>
          <a:prstGeom prst="rect">
            <a:avLst/>
          </a:prstGeom>
          <a:solidFill>
            <a:srgbClr val="2F6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85262" y="4617262"/>
            <a:ext cx="64876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85">
                <a:solidFill>
                  <a:srgbClr val="1F2937"/>
                </a:solidFill>
              </a:defRPr>
            </a:pPr>
            <a:r>
              <a:t>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20693" y="2823210"/>
            <a:ext cx="648766" cy="1748789"/>
          </a:xfrm>
          <a:prstGeom prst="rect">
            <a:avLst/>
          </a:prstGeom>
          <a:solidFill>
            <a:srgbClr val="2F6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20693" y="4617262"/>
            <a:ext cx="64876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85">
                <a:solidFill>
                  <a:srgbClr val="1F2937"/>
                </a:solidFill>
              </a:defRPr>
            </a:pPr>
            <a:r>
              <a:t>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56124" y="1239012"/>
            <a:ext cx="648766" cy="3332988"/>
          </a:xfrm>
          <a:prstGeom prst="rect">
            <a:avLst/>
          </a:prstGeom>
          <a:solidFill>
            <a:srgbClr val="2F6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56124" y="4617262"/>
            <a:ext cx="64876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85">
                <a:solidFill>
                  <a:srgbClr val="1F2937"/>
                </a:solidFill>
              </a:defRPr>
            </a:pPr>
            <a:r>
              <a:t>50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577840" y="2468880"/>
            <a:ext cx="594360" cy="594360"/>
          </a:xfrm>
          <a:prstGeom prst="downArrow">
            <a:avLst/>
          </a:prstGeom>
          <a:solidFill>
            <a:srgbClr val="F4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92240" y="3266785"/>
            <a:ext cx="648766" cy="1305214"/>
          </a:xfrm>
          <a:prstGeom prst="rect">
            <a:avLst/>
          </a:prstGeom>
          <a:solidFill>
            <a:srgbClr val="22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4617262"/>
            <a:ext cx="64876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85">
                <a:solidFill>
                  <a:srgbClr val="1F2937"/>
                </a:solidFill>
              </a:defRPr>
            </a:pPr>
            <a:r>
              <a:t>18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27671" y="1745955"/>
            <a:ext cx="648766" cy="2826044"/>
          </a:xfrm>
          <a:prstGeom prst="rect">
            <a:avLst/>
          </a:prstGeom>
          <a:solidFill>
            <a:srgbClr val="2F6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27671" y="4617262"/>
            <a:ext cx="64876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85">
                <a:solidFill>
                  <a:srgbClr val="1F2937"/>
                </a:solidFill>
              </a:defRPr>
            </a:pPr>
            <a:r>
              <a:t>42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63102" y="2316266"/>
            <a:ext cx="648766" cy="2255733"/>
          </a:xfrm>
          <a:prstGeom prst="rect">
            <a:avLst/>
          </a:prstGeom>
          <a:solidFill>
            <a:srgbClr val="2F6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63102" y="4617262"/>
            <a:ext cx="64876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85">
                <a:solidFill>
                  <a:srgbClr val="1F2937"/>
                </a:solidFill>
              </a:defRPr>
            </a:pPr>
            <a:r>
              <a:t>33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98533" y="2823210"/>
            <a:ext cx="648766" cy="1748789"/>
          </a:xfrm>
          <a:prstGeom prst="rect">
            <a:avLst/>
          </a:prstGeom>
          <a:solidFill>
            <a:srgbClr val="2F6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98533" y="4617262"/>
            <a:ext cx="64876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85">
                <a:solidFill>
                  <a:srgbClr val="1F2937"/>
                </a:solidFill>
              </a:defRPr>
            </a:pPr>
            <a:r>
              <a:t>25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33964" y="1239012"/>
            <a:ext cx="648766" cy="3332988"/>
          </a:xfrm>
          <a:prstGeom prst="rect">
            <a:avLst/>
          </a:prstGeom>
          <a:solidFill>
            <a:srgbClr val="2F6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233964" y="4617262"/>
            <a:ext cx="64876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85">
                <a:solidFill>
                  <a:srgbClr val="1F2937"/>
                </a:solidFill>
              </a:defRPr>
            </a:pPr>
            <a:r>
              <a:t>50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617720"/>
            <a:ext cx="3108960" cy="1051560"/>
          </a:xfrm>
          <a:prstGeom prst="roundRect">
            <a:avLst/>
          </a:prstGeom>
          <a:solidFill>
            <a:srgbClr val="F3F7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14400" y="4617720"/>
            <a:ext cx="100584" cy="1051560"/>
          </a:xfrm>
          <a:prstGeom prst="rect">
            <a:avLst/>
          </a:prstGeom>
          <a:solidFill>
            <a:srgbClr val="F4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70432" y="4818888"/>
            <a:ext cx="26974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182D"/>
                </a:solidFill>
              </a:defRPr>
            </a:pPr>
            <a:r>
              <a:t>Compare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0432" y="5239512"/>
            <a:ext cx="2670048" cy="320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42 and 18 are adjacent.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26280" y="4617720"/>
            <a:ext cx="3108960" cy="1051560"/>
          </a:xfrm>
          <a:prstGeom prst="roundRect">
            <a:avLst/>
          </a:prstGeom>
          <a:solidFill>
            <a:srgbClr val="F3F7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526280" y="4617720"/>
            <a:ext cx="100584" cy="1051560"/>
          </a:xfrm>
          <a:prstGeom prst="rect">
            <a:avLst/>
          </a:prstGeom>
          <a:solidFill>
            <a:srgbClr val="E2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82312" y="4818888"/>
            <a:ext cx="26974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182D"/>
                </a:solidFill>
              </a:defRPr>
            </a:pPr>
            <a:r>
              <a:t>Decision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82312" y="5239512"/>
            <a:ext cx="2670048" cy="320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42 &gt; 18, so they are out of order.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4617720"/>
            <a:ext cx="3108960" cy="1051560"/>
          </a:xfrm>
          <a:prstGeom prst="roundRect">
            <a:avLst/>
          </a:prstGeom>
          <a:solidFill>
            <a:srgbClr val="F3F7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138160" y="4617720"/>
            <a:ext cx="100584" cy="1051560"/>
          </a:xfrm>
          <a:prstGeom prst="rect">
            <a:avLst/>
          </a:prstGeom>
          <a:solidFill>
            <a:srgbClr val="22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94192" y="4818888"/>
            <a:ext cx="26974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182D"/>
                </a:solidFill>
              </a:defRPr>
            </a:pPr>
            <a:r>
              <a:t>Swap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94192" y="5239512"/>
            <a:ext cx="2670048" cy="320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Exchange values and redraw the bars.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6492240"/>
            <a:ext cx="10881360" cy="18288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8368" y="6528816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97A"/>
                </a:solidFill>
              </a:defRPr>
            </a:pPr>
            <a:r>
              <a:t>Searching &amp; Sorting Visualizer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97A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2DEEE"/>
                </a:solidFill>
              </a:defRPr>
            </a:pPr>
            <a:r>
              <a:t>Searching &amp; Sorting Visualizer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>
                <a:solidFill>
                  <a:srgbClr val="FFFFFF"/>
                </a:solidFill>
              </a:defRPr>
            </a:pPr>
            <a:r>
              <a:t>A visualizer transforms algorithms from lines of code into an interactive learning experience.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834640"/>
            <a:ext cx="3154680" cy="1463040"/>
          </a:xfrm>
          <a:prstGeom prst="roundRect">
            <a:avLst/>
          </a:prstGeom>
          <a:solidFill>
            <a:srgbClr val="F3F7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2834640"/>
            <a:ext cx="100584" cy="1463040"/>
          </a:xfrm>
          <a:prstGeom prst="rect">
            <a:avLst/>
          </a:prstGeom>
          <a:solidFill>
            <a:srgbClr val="2FC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70432" y="3035808"/>
            <a:ext cx="2743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182D"/>
                </a:solidFill>
              </a:defRPr>
            </a:pPr>
            <a:r>
              <a:t>Understand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3456432"/>
            <a:ext cx="271576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Observe every comparison and swap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2834640"/>
            <a:ext cx="3154680" cy="1463040"/>
          </a:xfrm>
          <a:prstGeom prst="roundRect">
            <a:avLst/>
          </a:prstGeom>
          <a:solidFill>
            <a:srgbClr val="F3F7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63440" y="2834640"/>
            <a:ext cx="100584" cy="1463040"/>
          </a:xfrm>
          <a:prstGeom prst="rect">
            <a:avLst/>
          </a:prstGeom>
          <a:solidFill>
            <a:srgbClr val="F4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19472" y="3035808"/>
            <a:ext cx="2743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182D"/>
                </a:solidFill>
              </a:defRPr>
            </a:pPr>
            <a:r>
              <a:t>Compare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9472" y="3456432"/>
            <a:ext cx="271576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Measure speed and operations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2834640"/>
            <a:ext cx="3154680" cy="1463040"/>
          </a:xfrm>
          <a:prstGeom prst="roundRect">
            <a:avLst/>
          </a:prstGeom>
          <a:solidFill>
            <a:srgbClr val="F3F7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412480" y="2834640"/>
            <a:ext cx="100584" cy="1463040"/>
          </a:xfrm>
          <a:prstGeom prst="rect">
            <a:avLst/>
          </a:prstGeom>
          <a:solidFill>
            <a:srgbClr val="22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68511" y="3035808"/>
            <a:ext cx="2743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182D"/>
                </a:solidFill>
              </a:defRPr>
            </a:pPr>
            <a: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8511" y="3456432"/>
            <a:ext cx="271576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F2937"/>
                </a:solidFill>
              </a:defRPr>
            </a:pPr>
            <a:r>
              <a:t>Apply front-end and algorithm skills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6636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92240"/>
            <a:ext cx="10881360" cy="18288"/>
          </a:xfrm>
          <a:prstGeom prst="rect">
            <a:avLst/>
          </a:prstGeom>
          <a:solidFill>
            <a:srgbClr val="2FC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6528816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D2DEEE"/>
                </a:solidFill>
              </a:defRPr>
            </a:pPr>
            <a:r>
              <a:t>Searching &amp; Sorting Visualizer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D2DEEE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663</Words>
  <Application>Microsoft Office PowerPoint</Application>
  <PresentationFormat>Widescreen</PresentationFormat>
  <Paragraphs>163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PRAMODH BIRADAR</cp:lastModifiedBy>
  <cp:revision>1</cp:revision>
  <dcterms:created xsi:type="dcterms:W3CDTF">2013-01-27T09:14:16Z</dcterms:created>
  <dcterms:modified xsi:type="dcterms:W3CDTF">2026-10-03T07:54:32Z</dcterms:modified>
  <cp:category/>
</cp:coreProperties>
</file>